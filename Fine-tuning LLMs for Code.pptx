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Exo 2 SemiBold"/>
      <p:regular r:id="rId19"/>
      <p:bold r:id="rId20"/>
      <p:italic r:id="rId21"/>
      <p:boldItalic r:id="rId22"/>
    </p:embeddedFont>
    <p:embeddedFont>
      <p:font typeface="Exo 2"/>
      <p:regular r:id="rId23"/>
      <p:bold r:id="rId24"/>
      <p:italic r:id="rId25"/>
      <p:boldItalic r:id="rId26"/>
    </p:embeddedFont>
    <p:embeddedFont>
      <p:font typeface="Orbitron"/>
      <p:regular r:id="rId27"/>
      <p:bold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E93ACE-BA46-4CAE-87CC-A7FC40382482}">
  <a:tblStyle styleId="{73E93ACE-BA46-4CAE-87CC-A7FC403824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SemiBold-bold.fntdata"/><Relationship Id="rId22" Type="http://schemas.openxmlformats.org/officeDocument/2006/relationships/font" Target="fonts/Exo2SemiBold-boldItalic.fntdata"/><Relationship Id="rId21" Type="http://schemas.openxmlformats.org/officeDocument/2006/relationships/font" Target="fonts/Exo2SemiBold-italic.fntdata"/><Relationship Id="rId24" Type="http://schemas.openxmlformats.org/officeDocument/2006/relationships/font" Target="fonts/Exo2-bold.fntdata"/><Relationship Id="rId23" Type="http://schemas.openxmlformats.org/officeDocument/2006/relationships/font" Target="fonts/Exo2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xo2-boldItalic.fntdata"/><Relationship Id="rId25" Type="http://schemas.openxmlformats.org/officeDocument/2006/relationships/font" Target="fonts/Exo2-italic.fntdata"/><Relationship Id="rId28" Type="http://schemas.openxmlformats.org/officeDocument/2006/relationships/font" Target="fonts/Orbitron-bold.fntdata"/><Relationship Id="rId27" Type="http://schemas.openxmlformats.org/officeDocument/2006/relationships/font" Target="fonts/Orbitron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xo2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14c7aea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14c7aea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为我添加合适的科幻背景图进去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81025" y="40577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THE NEW ERA OF SOFTWARE ENGINEERING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81025" y="12192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81025" y="650557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Introduction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482050" y="1001512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2124075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Large Language Models (LLMs) are revolutionizing software development by automating complex tasks.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5267325"/>
            <a:ext cx="5324475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23900" y="5410200"/>
            <a:ext cx="5038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Exo 2"/>
                <a:ea typeface="Exo 2"/>
                <a:cs typeface="Exo 2"/>
                <a:sym typeface="Exo 2"/>
              </a:rPr>
              <a:t>GOAL: Evaluate fine-tuning strategies to optimize these tasks.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5267325"/>
            <a:ext cx="28575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10515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Code Translation: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Migrating legacy systems (e.g., Java to C#) is traditionally manual and error-prone. Automation saves millions in modernization costs.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16242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Code Generation: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Synthesizing functional code from natural language descriptions democratizes development and accelerates prototyping.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3105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1624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id="102" name="Google Shape;102;p14" title="屏幕截图 2026-01-29 2205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875" y="2284625"/>
            <a:ext cx="5988726" cy="359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5956"/>
            <a:ext cx="5324475" cy="4014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35956"/>
            <a:ext cx="5324475" cy="4014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3221831"/>
            <a:ext cx="4733925" cy="59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METHODOLOGY: THE COMPARISON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12192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6505575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Methodology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540200" y="1112037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76300" y="2250281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46EF"/>
                </a:solidFill>
                <a:latin typeface="Orbitron"/>
                <a:ea typeface="Orbitron"/>
                <a:cs typeface="Orbitron"/>
                <a:sym typeface="Orbitron"/>
              </a:rPr>
              <a:t>FULL PARAMETER FINE-TUNING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2726531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Updates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100%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of model parameters.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81775" y="2250281"/>
            <a:ext cx="49706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Orbitron"/>
                <a:ea typeface="Orbitron"/>
                <a:cs typeface="Orbitron"/>
                <a:sym typeface="Orbitron"/>
              </a:rPr>
              <a:t>LORA (LOW-RANK ADAPTATION)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81775" y="2726531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Updates only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1-2%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of parameters.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62050" y="3221831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Requires massive computational resources.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62050" y="3669506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Typically yields best performance for specific tasks.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62050" y="4421981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Used for: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Code Translation (Java → C#).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62050" y="4869656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Model: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CodeT5 (222M params).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1800" y="3421856"/>
            <a:ext cx="4333875" cy="195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867525" y="4007643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Efficient: Runs on consumer GPUs (RTX 4070).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867525" y="4455318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Freezes pre-trained weights, injects low-rank matrices.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867525" y="5207793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Used for: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Code Generation (Text → Python).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76300" y="322183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76300" y="366950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76300" y="442198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486965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81775" y="400764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81775" y="445531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81775" y="520779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8994"/>
            <a:ext cx="3486150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08994"/>
            <a:ext cx="3486150" cy="294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908994"/>
            <a:ext cx="3486150" cy="294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TASK 1: CODE TRANSLATION SETUP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81025" y="12192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6505575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1: Translation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619750" y="1138250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81025" y="2223194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Objective: Translate Java legacy code into modern C# using a full fine-tuning approach.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03910" y="3947219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DATASET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76300" y="4423469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XLCOST Benchmark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76300" y="4918769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9,228 aligned parallel program pairs (Java ↔ C#). Rigorously de-duplicated.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75810" y="3947219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MODEL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48200" y="4423469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CodeT5 (Base)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648200" y="4918769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222.88 Million Parameters. Encoder-Decoder architecture optimized for code.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47710" y="3947219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TRAINING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420100" y="4423469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Full Fine-tuning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420100" y="4918769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3 Epochs, FP16 Precision. Trained on RTX 4070 Laptop GPU (~5 hours).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326141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2614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2150" y="3261419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81025" y="581025"/>
            <a:ext cx="1158144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TASK 1 RESULTS: NEAR PERFECT TRANSLATION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81025" y="1714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6505575"/>
            <a:ext cx="1000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1: Results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619750" y="1138237"/>
            <a:ext cx="952500" cy="28575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81025" y="2486025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PERFORMANCE LEAP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2962275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The fine-tuned model achieved state-of-the-art results, showing massive improvements over the base model.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66775" y="3943350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BLEU Score: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Measures surface-level textual similarity.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66775" y="439102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CodeBLEU: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Measures semantic and syntactic logic (AST + DataFlow).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51435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Functional Correctness: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72.06% of translated code ran successfully.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81025" y="3943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81025" y="4391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1025" y="5143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id="176" name="Google Shape;176;p17" title="ChatGPT Image 2026年1月29日 22_03_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0275" y="2025950"/>
            <a:ext cx="5590698" cy="3727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30264"/>
            <a:ext cx="5324475" cy="2059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985444"/>
            <a:ext cx="5324475" cy="1347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81025" y="525214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TASK 2: CODE GENERATION WITH LORA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1163389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81025" y="6505575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2: Generation Setup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6064950" y="1082464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81025" y="1553914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OBJECTIVE: TEXT TO PYTHON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81025" y="2030164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Synthesizing Python solutions from algorithmic problem descriptions using parameter-efficient fine-tuning.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71525" y="3223319"/>
            <a:ext cx="519064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3E635"/>
                </a:solidFill>
                <a:latin typeface="Exo 2"/>
                <a:ea typeface="Exo 2"/>
                <a:cs typeface="Exo 2"/>
                <a:sym typeface="Exo 2"/>
              </a:rPr>
              <a:t>The Models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71525" y="5378499"/>
            <a:ext cx="519064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46EF"/>
                </a:solidFill>
                <a:latin typeface="Exo 2"/>
                <a:ea typeface="Exo 2"/>
                <a:cs typeface="Exo 2"/>
                <a:sym typeface="Exo 2"/>
              </a:rPr>
              <a:t>LoRA Config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71525" y="5654724"/>
            <a:ext cx="4943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Rank (r) = 16, Alpha = 32. Targeting all Linear layers.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Only ~1.5% trainable parameters.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057275" y="3499544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DeepSeek-Coder-6.7B-Instruct: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6.7B Params (Quantized to 4-bit).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057275" y="4252019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Qwen2.5-Coder-3B-Instruct: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3B Params.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71525" y="349954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771525" y="425201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id="197" name="Google Shape;197;p18" title="ChatGPT Image 2026年1月29日 22_11_5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9750" y="1582887"/>
            <a:ext cx="6047224" cy="444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651510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2: Data Engineering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571500"/>
            <a:ext cx="52006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THE DATA CHALLENGE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1704975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71500" y="209550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INITIAL FAILURE: MBPP + TACO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27146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Using standard competitive programming datasets led to a "Loss Explosion." The models failed to converge due to excessive I/O boilerplate and messy formats.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4010025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571500" y="42195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THE SOLUTION: SYNTHETIC DATA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483870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We generated a pristine dataset using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Gemini </a:t>
            </a:r>
            <a:r>
              <a:rPr lang="en-US" sz="1500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3</a:t>
            </a: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 Pro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and </a:t>
            </a:r>
            <a:r>
              <a:rPr b="0" i="0" lang="en-US" sz="150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Claude Opus 4.5 </a:t>
            </a:r>
            <a:r>
              <a:rPr lang="en-US" sz="1500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thinking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57250" y="56388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1,600 High-quality Training Samples.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57250" y="608647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Clean function signatures (No I/O noise).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57250" y="65341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Stable convergence achieved.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71500" y="5638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571500" y="6086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71500" y="6534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46E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60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72666"/>
            <a:ext cx="11029950" cy="4741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581025" y="543966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TASK 2 RESULTS: PASS@1 IMPROVEMENTS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81025" y="1182141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81025" y="6505575"/>
            <a:ext cx="1866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2: Quantitative Results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643000" y="1048804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81025" y="176316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LoRA fine-tuning yielded significant gains in the "Pass@1" metric (probability of the first generated code executing correctly).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81025" y="5868441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Insight:</a:t>
            </a:r>
            <a:r>
              <a:rPr b="0" i="0" lang="en-US" sz="1350" u="none" cap="none" strike="noStrike">
                <a:solidFill>
                  <a:srgbClr val="A3E635"/>
                </a:solidFill>
                <a:latin typeface="Exo 2"/>
                <a:ea typeface="Exo 2"/>
                <a:cs typeface="Exo 2"/>
                <a:sym typeface="Exo 2"/>
              </a:rPr>
              <a:t> The smaller Qwen model benefited MORE from fine-tuning than the larger model.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ERROR ANALYSIS: QWEN MODEL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81025" y="12192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81025" y="6505575"/>
            <a:ext cx="1466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2: Error Analysis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5619750" y="1085862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184502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LoRA fine-tuning drastically changed the failure patterns, nearly eliminating compilation and runtime errors.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81025" y="5835997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Note: The increase in AssertionErrors suggests the model learned to write valid code (runs without crashing) but sometimes produces incorrect logic.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81025" y="2626072"/>
            <a:ext cx="11029950" cy="301942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581025" y="26260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{73E93ACE-BA46-4CAE-87CC-A7FC40382482}</a:tableStyleId>
              </a:tblPr>
              <a:tblGrid>
                <a:gridCol w="4157800"/>
                <a:gridCol w="1921675"/>
                <a:gridCol w="2609700"/>
                <a:gridCol w="2331250"/>
              </a:tblGrid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Error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Base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LoRA Fine-tuned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2D3EE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Change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SyntaxError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(Code doesn't compile)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2.10%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2C55E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1.15%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Improved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RuntimeError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(Crashes during run)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44.90%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2C55E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10.75%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-76% Reduction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AssertionError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(Wrong Answer)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19.40%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59E0B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26.85%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Increased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Extra I/O Rate</a:t>
                      </a: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(Bad Formatting)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96.1%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2C55E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0.1%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Eliminated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21"/>
          <p:cNvSpPr/>
          <p:nvPr/>
        </p:nvSpPr>
        <p:spPr>
          <a:xfrm>
            <a:off x="585787" y="3216622"/>
            <a:ext cx="4157811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743598" y="3216622"/>
            <a:ext cx="1921668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665267" y="3216622"/>
            <a:ext cx="2609701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9274968" y="3216622"/>
            <a:ext cx="2331243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85787" y="3830984"/>
            <a:ext cx="4157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743598" y="3830984"/>
            <a:ext cx="19216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6665267" y="3830984"/>
            <a:ext cx="2609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9274968" y="3830984"/>
            <a:ext cx="23312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85787" y="4431059"/>
            <a:ext cx="4157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743598" y="4431059"/>
            <a:ext cx="19216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665267" y="4431059"/>
            <a:ext cx="2609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9274968" y="4431059"/>
            <a:ext cx="23312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85787" y="5031134"/>
            <a:ext cx="4157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743598" y="5031134"/>
            <a:ext cx="19216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665267" y="5031134"/>
            <a:ext cx="26097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9274968" y="5031134"/>
            <a:ext cx="23312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7843" y="525497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7843" y="465489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7843" y="345474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7843" y="405482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7843" y="345474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7843" y="405482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7843" y="465489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7843" y="525497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title="屏幕截图 2026-01-29 2153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8075" y="2463625"/>
            <a:ext cx="11258802" cy="33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581025" y="490537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EFFICIENCY: FULL FT VS. LORA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81025" y="1128712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581025" y="6505575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Efficiency Analysis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619750" y="1047738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581025" y="3305175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RESOURCE CONSUMPTION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581025" y="3781425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LoRA enables training massive models on standard laptop hardware (RTX 4070, 8GB VRAM) via 4-bit quantization.</a:t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6291262" y="2719387"/>
            <a:ext cx="1390352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7681614" y="2719387"/>
            <a:ext cx="1949946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9631560" y="2719387"/>
            <a:ext cx="1974651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291262" y="3638550"/>
            <a:ext cx="13903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7681614" y="3638550"/>
            <a:ext cx="19499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9631560" y="3638550"/>
            <a:ext cx="1974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6291262" y="4543425"/>
            <a:ext cx="13903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7681614" y="4543425"/>
            <a:ext cx="19499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9631560" y="4543425"/>
            <a:ext cx="1974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291262" y="5448300"/>
            <a:ext cx="13903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681614" y="5448300"/>
            <a:ext cx="19499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9631560" y="5448300"/>
            <a:ext cx="19746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2" title="屏幕截图 2026-01-29 2151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8200" y="2648500"/>
            <a:ext cx="6382800" cy="33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3625"/>
            <a:ext cx="34861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33625"/>
            <a:ext cx="34861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33625"/>
            <a:ext cx="34861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KEY TAKEAWAYS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581025" y="12192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581025" y="6505575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Conclusion</a:t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5579100" y="1085862"/>
            <a:ext cx="952500" cy="2850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803910" y="33718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FULL FINE-TUNING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876300" y="384810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Remains the gold standard for specialized translation tasks on smaller models (CodeT5).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575810" y="33718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LORA EFFICIENCY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4648200" y="384810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Democratizes access. Enables 7B+ parameter model training on consumer laptops with excellent results.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347710" y="337185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SMALL VS LARGE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8420100" y="384810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Smaller models (Qwen 3B) show greater relative elasticity and improvement from LoRA than larger counterparts.</a:t>
            </a:r>
            <a:endParaRPr/>
          </a:p>
        </p:txBody>
      </p:sp>
      <p:pic>
        <p:nvPicPr>
          <p:cNvPr descr="image.png" id="310" name="Google Shape;31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2686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6860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6860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581025" y="6505575"/>
            <a:ext cx="200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Q&amp;A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895475" y="1775519"/>
            <a:ext cx="84010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Q &amp; A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2095500" y="3032819"/>
            <a:ext cx="8001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Thank you for your attention.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2095500" y="4587180"/>
            <a:ext cx="800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Shujun Liao &amp; Vipin Chaudhry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