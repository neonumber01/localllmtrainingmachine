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2000"/>
  <p:notesSz cx="6858000" cy="9144000"/>
  <p:embeddedFontLst>
    <p:embeddedFont>
      <p:font typeface="Exo 2 SemiBold"/>
      <p:regular r:id="rId19"/>
      <p:bold r:id="rId20"/>
      <p:italic r:id="rId21"/>
      <p:boldItalic r:id="rId22"/>
    </p:embeddedFont>
    <p:embeddedFont>
      <p:font typeface="Exo 2"/>
      <p:regular r:id="rId23"/>
      <p:bold r:id="rId24"/>
      <p:italic r:id="rId25"/>
      <p:boldItalic r:id="rId26"/>
    </p:embeddedFont>
    <p:embeddedFont>
      <p:font typeface="Orbitron"/>
      <p:regular r:id="rId27"/>
      <p:bold r:id="rId28"/>
    </p:embeddedFont>
    <p:embeddedFont>
      <p:font typeface="JetBrains Mono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42A529D-24A7-493E-878A-65EC14C36B96}">
  <a:tblStyle styleId="{642A529D-24A7-493E-878A-65EC14C36B9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Exo2SemiBold-bold.fntdata"/><Relationship Id="rId22" Type="http://schemas.openxmlformats.org/officeDocument/2006/relationships/font" Target="fonts/Exo2SemiBold-boldItalic.fntdata"/><Relationship Id="rId21" Type="http://schemas.openxmlformats.org/officeDocument/2006/relationships/font" Target="fonts/Exo2SemiBold-italic.fntdata"/><Relationship Id="rId24" Type="http://schemas.openxmlformats.org/officeDocument/2006/relationships/font" Target="fonts/Exo2-bold.fntdata"/><Relationship Id="rId23" Type="http://schemas.openxmlformats.org/officeDocument/2006/relationships/font" Target="fonts/Exo2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Exo2-boldItalic.fntdata"/><Relationship Id="rId25" Type="http://schemas.openxmlformats.org/officeDocument/2006/relationships/font" Target="fonts/Exo2-italic.fntdata"/><Relationship Id="rId28" Type="http://schemas.openxmlformats.org/officeDocument/2006/relationships/font" Target="fonts/Orbitron-bold.fntdata"/><Relationship Id="rId27" Type="http://schemas.openxmlformats.org/officeDocument/2006/relationships/font" Target="fonts/Orbitron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JetBrainsMono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JetBrainsMono-italic.fntdata"/><Relationship Id="rId30" Type="http://schemas.openxmlformats.org/officeDocument/2006/relationships/font" Target="fonts/JetBrainsMono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32" Type="http://schemas.openxmlformats.org/officeDocument/2006/relationships/font" Target="fonts/JetBrainsMono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Exo2SemiBold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214c7aea7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214c7aea7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4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9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image" Target="../media/image6.png"/><Relationship Id="rId6" Type="http://schemas.openxmlformats.org/officeDocument/2006/relationships/image" Target="../media/image1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2.png"/><Relationship Id="rId4" Type="http://schemas.openxmlformats.org/officeDocument/2006/relationships/image" Target="../media/image2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26.png"/><Relationship Id="rId6" Type="http://schemas.openxmlformats.org/officeDocument/2006/relationships/image" Target="../media/image17.png"/><Relationship Id="rId7" Type="http://schemas.openxmlformats.org/officeDocument/2006/relationships/image" Target="../media/image2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31.png"/><Relationship Id="rId9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2.png"/><Relationship Id="rId7" Type="http://schemas.openxmlformats.org/officeDocument/2006/relationships/image" Target="../media/image35.png"/><Relationship Id="rId8" Type="http://schemas.openxmlformats.org/officeDocument/2006/relationships/image" Target="../media/image3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7625" y="0"/>
            <a:ext cx="12287250" cy="68635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9" name="Google Shape;8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4"/>
          <p:cNvSpPr txBox="1"/>
          <p:nvPr/>
        </p:nvSpPr>
        <p:spPr>
          <a:xfrm>
            <a:off x="581025" y="405775"/>
            <a:ext cx="1158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6B6D4"/>
                </a:solidFill>
                <a:latin typeface="Orbitron"/>
                <a:ea typeface="Orbitron"/>
                <a:cs typeface="Orbitron"/>
                <a:sym typeface="Orbitron"/>
              </a:rPr>
              <a:t>THE NEW ERA OF SOFTWARE ENGINEERING</a:t>
            </a:r>
            <a:endParaRPr/>
          </a:p>
        </p:txBody>
      </p:sp>
      <p:sp>
        <p:nvSpPr>
          <p:cNvPr id="91" name="Google Shape;91;p14"/>
          <p:cNvSpPr/>
          <p:nvPr/>
        </p:nvSpPr>
        <p:spPr>
          <a:xfrm>
            <a:off x="581025" y="12192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581025" y="6505575"/>
            <a:ext cx="800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4"/>
          <p:cNvSpPr/>
          <p:nvPr/>
        </p:nvSpPr>
        <p:spPr>
          <a:xfrm>
            <a:off x="5482050" y="1001512"/>
            <a:ext cx="952500" cy="28500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581025" y="2124075"/>
            <a:ext cx="5324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Large Language Models (LLMs) are revolutionizing software development by automating complex tasks.</a:t>
            </a:r>
            <a:endParaRPr/>
          </a:p>
        </p:txBody>
      </p:sp>
      <p:sp>
        <p:nvSpPr>
          <p:cNvPr id="95" name="Google Shape;95;p14"/>
          <p:cNvSpPr/>
          <p:nvPr/>
        </p:nvSpPr>
        <p:spPr>
          <a:xfrm>
            <a:off x="581025" y="5267325"/>
            <a:ext cx="5324475" cy="685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723900" y="5410200"/>
            <a:ext cx="503872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2E8F0"/>
                </a:solidFill>
                <a:latin typeface="Exo 2"/>
                <a:ea typeface="Exo 2"/>
                <a:cs typeface="Exo 2"/>
                <a:sym typeface="Exo 2"/>
              </a:rPr>
              <a:t>GOAL: Evaluate fine-tuning strategies to optimize these tasks.</a:t>
            </a:r>
            <a:endParaRPr/>
          </a:p>
        </p:txBody>
      </p:sp>
      <p:sp>
        <p:nvSpPr>
          <p:cNvPr id="97" name="Google Shape;97;p14"/>
          <p:cNvSpPr/>
          <p:nvPr/>
        </p:nvSpPr>
        <p:spPr>
          <a:xfrm>
            <a:off x="581025" y="5267325"/>
            <a:ext cx="28575" cy="685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866775" y="3105150"/>
            <a:ext cx="50387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Code Translation: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 Migrating legacy systems (e.g., Java to C#) is traditionally manual and error-prone. Automation saves millions in modernization costs.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866775" y="4162425"/>
            <a:ext cx="50387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Code Generation: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 Synthesizing functional code from natural language descriptions democratizes development and accelerates prototyping.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581025" y="310515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581025" y="416242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pic>
        <p:nvPicPr>
          <p:cNvPr id="102" name="Google Shape;102;p14" title="屏幕截图 2026-01-29 22051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81875" y="2284625"/>
            <a:ext cx="5988726" cy="3599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7" name="Google Shape;10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935956"/>
            <a:ext cx="5324475" cy="40147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935956"/>
            <a:ext cx="5324475" cy="40147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0" name="Google Shape;110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81775" y="3221831"/>
            <a:ext cx="4733925" cy="595312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581025" y="581025"/>
            <a:ext cx="115814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6B6D4"/>
                </a:solidFill>
                <a:latin typeface="Orbitron"/>
                <a:ea typeface="Orbitron"/>
                <a:cs typeface="Orbitron"/>
                <a:sym typeface="Orbitron"/>
              </a:rPr>
              <a:t>METHODOLOGY: THE COMPARISON</a:t>
            </a:r>
            <a:endParaRPr/>
          </a:p>
        </p:txBody>
      </p:sp>
      <p:sp>
        <p:nvSpPr>
          <p:cNvPr id="112" name="Google Shape;112;p15"/>
          <p:cNvSpPr/>
          <p:nvPr/>
        </p:nvSpPr>
        <p:spPr>
          <a:xfrm>
            <a:off x="581025" y="12192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5540200" y="1112037"/>
            <a:ext cx="952500" cy="28500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2250281"/>
            <a:ext cx="497062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946EF"/>
                </a:solidFill>
                <a:latin typeface="Orbitron"/>
                <a:ea typeface="Orbitron"/>
                <a:cs typeface="Orbitron"/>
                <a:sym typeface="Orbitron"/>
              </a:rPr>
              <a:t>FULL PARAMETER FINE-TUNING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876300" y="2726531"/>
            <a:ext cx="47339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Updates </a:t>
            </a: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100%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 of model parameters.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6581775" y="2250281"/>
            <a:ext cx="497062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A3E635"/>
                </a:solidFill>
                <a:latin typeface="Orbitron"/>
                <a:ea typeface="Orbitron"/>
                <a:cs typeface="Orbitron"/>
                <a:sym typeface="Orbitron"/>
              </a:rPr>
              <a:t>LORA (LOW-RANK ADAPTATION)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6581775" y="2726531"/>
            <a:ext cx="47339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Updates only </a:t>
            </a: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1-2%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 of parameters.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1162050" y="3221831"/>
            <a:ext cx="44481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Requires massive computational resources.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1162050" y="3669506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Typically yields best performance for specific tasks.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1162050" y="4421981"/>
            <a:ext cx="44481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Used for: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 Code Translation (Java → C#).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1162050" y="4869656"/>
            <a:ext cx="44481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Model: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 CodeT5 (222M params).</a:t>
            </a:r>
            <a:endParaRPr/>
          </a:p>
        </p:txBody>
      </p:sp>
      <p:pic>
        <p:nvPicPr>
          <p:cNvPr descr="image.png" id="122" name="Google Shape;122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81800" y="3421856"/>
            <a:ext cx="4333875" cy="195262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5"/>
          <p:cNvSpPr txBox="1"/>
          <p:nvPr/>
        </p:nvSpPr>
        <p:spPr>
          <a:xfrm>
            <a:off x="6867525" y="4007643"/>
            <a:ext cx="44481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Efficient: Runs on consumer GPUs (RTX 4070).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6867525" y="4455318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Freezes pre-trained weights, injects low-rank matrices.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6867525" y="5207793"/>
            <a:ext cx="44481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Used for: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 Code Generation (Text → Python).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876300" y="3221831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76300" y="3669506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" y="4421981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876300" y="4869656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6581775" y="4007643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6581775" y="4455318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6581775" y="5207793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908994"/>
            <a:ext cx="3486150" cy="294501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2908994"/>
            <a:ext cx="3486150" cy="294501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2908994"/>
            <a:ext cx="3486150" cy="294501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6"/>
          <p:cNvSpPr txBox="1"/>
          <p:nvPr/>
        </p:nvSpPr>
        <p:spPr>
          <a:xfrm>
            <a:off x="581025" y="581025"/>
            <a:ext cx="115814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6B6D4"/>
                </a:solidFill>
                <a:latin typeface="Orbitron"/>
                <a:ea typeface="Orbitron"/>
                <a:cs typeface="Orbitron"/>
                <a:sym typeface="Orbitron"/>
              </a:rPr>
              <a:t>TASK 1: CODE TRANSLATION SETUP</a:t>
            </a:r>
            <a:endParaRPr/>
          </a:p>
        </p:txBody>
      </p:sp>
      <p:sp>
        <p:nvSpPr>
          <p:cNvPr id="142" name="Google Shape;142;p16"/>
          <p:cNvSpPr/>
          <p:nvPr/>
        </p:nvSpPr>
        <p:spPr>
          <a:xfrm>
            <a:off x="581025" y="12192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6"/>
          <p:cNvSpPr txBox="1"/>
          <p:nvPr/>
        </p:nvSpPr>
        <p:spPr>
          <a:xfrm>
            <a:off x="581025" y="6505575"/>
            <a:ext cx="12668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 1: Translation</a:t>
            </a:r>
            <a:endParaRPr/>
          </a:p>
        </p:txBody>
      </p:sp>
      <p:sp>
        <p:nvSpPr>
          <p:cNvPr id="144" name="Google Shape;144;p16"/>
          <p:cNvSpPr/>
          <p:nvPr/>
        </p:nvSpPr>
        <p:spPr>
          <a:xfrm>
            <a:off x="5619750" y="1138250"/>
            <a:ext cx="952500" cy="28500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581025" y="2223194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Objective: Translate Java legacy code into modern C# using a full fine-tuning approach.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803910" y="3947219"/>
            <a:ext cx="30403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2E8F0"/>
                </a:solidFill>
                <a:latin typeface="Orbitron"/>
                <a:ea typeface="Orbitron"/>
                <a:cs typeface="Orbitron"/>
                <a:sym typeface="Orbitron"/>
              </a:rPr>
              <a:t>DATASET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876300" y="4423469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XLCOST Benchmark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876300" y="4918769"/>
            <a:ext cx="289560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9,228 aligned parallel program pairs (Java ↔ C#). Rigorously de-duplicated.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4575810" y="3947219"/>
            <a:ext cx="30403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2E8F0"/>
                </a:solidFill>
                <a:latin typeface="Orbitron"/>
                <a:ea typeface="Orbitron"/>
                <a:cs typeface="Orbitron"/>
                <a:sym typeface="Orbitron"/>
              </a:rPr>
              <a:t>MODEL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4648200" y="4423469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CodeT5 (Base)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4648200" y="4918769"/>
            <a:ext cx="289560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222.88 Million Parameters. Encoder-Decoder architecture optimized for code.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8347710" y="3947219"/>
            <a:ext cx="30403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2E8F0"/>
                </a:solidFill>
                <a:latin typeface="Orbitron"/>
                <a:ea typeface="Orbitron"/>
                <a:cs typeface="Orbitron"/>
                <a:sym typeface="Orbitron"/>
              </a:rPr>
              <a:t>TRAINING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8420100" y="4423469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Full Fine-tuning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8420100" y="4918769"/>
            <a:ext cx="289560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3 Epochs, FP16 Precision. Trained on RTX 4070 Laptop GPU (~5 hours).</a:t>
            </a:r>
            <a:endParaRPr/>
          </a:p>
        </p:txBody>
      </p:sp>
      <p:pic>
        <p:nvPicPr>
          <p:cNvPr descr="image.png" id="155" name="Google Shape;155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124075" y="3261419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67400" y="3261419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82150" y="3261419"/>
            <a:ext cx="5715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2" name="Google Shape;16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7"/>
          <p:cNvSpPr txBox="1"/>
          <p:nvPr/>
        </p:nvSpPr>
        <p:spPr>
          <a:xfrm>
            <a:off x="581025" y="581025"/>
            <a:ext cx="11581447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6B6D4"/>
                </a:solidFill>
                <a:latin typeface="Orbitron"/>
                <a:ea typeface="Orbitron"/>
                <a:cs typeface="Orbitron"/>
                <a:sym typeface="Orbitron"/>
              </a:rPr>
              <a:t>TASK 1 RESULTS: NEAR PERFECT TRANSLATION</a:t>
            </a:r>
            <a:endParaRPr/>
          </a:p>
        </p:txBody>
      </p:sp>
      <p:sp>
        <p:nvSpPr>
          <p:cNvPr id="164" name="Google Shape;164;p17"/>
          <p:cNvSpPr/>
          <p:nvPr/>
        </p:nvSpPr>
        <p:spPr>
          <a:xfrm>
            <a:off x="581025" y="17145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581025" y="6505575"/>
            <a:ext cx="10001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 1: Results</a:t>
            </a:r>
            <a:endParaRPr/>
          </a:p>
        </p:txBody>
      </p:sp>
      <p:sp>
        <p:nvSpPr>
          <p:cNvPr id="166" name="Google Shape;166;p17"/>
          <p:cNvSpPr/>
          <p:nvPr/>
        </p:nvSpPr>
        <p:spPr>
          <a:xfrm>
            <a:off x="5619750" y="1138237"/>
            <a:ext cx="952500" cy="28575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 txBox="1"/>
          <p:nvPr/>
        </p:nvSpPr>
        <p:spPr>
          <a:xfrm>
            <a:off x="581025" y="2486025"/>
            <a:ext cx="559069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2E8F0"/>
                </a:solidFill>
                <a:latin typeface="Orbitron"/>
                <a:ea typeface="Orbitron"/>
                <a:cs typeface="Orbitron"/>
                <a:sym typeface="Orbitron"/>
              </a:rPr>
              <a:t>PERFORMANCE LEAP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581025" y="2962275"/>
            <a:ext cx="5324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The fine-tuned model achieved state-of-the-art results, showing massive improvements over the base model.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866775" y="3943350"/>
            <a:ext cx="50387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BLEU Score: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 Measures surface-level textual similarity.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866775" y="4391025"/>
            <a:ext cx="50387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CodeBLEU: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 Measures semantic and syntactic logic (AST + DataFlow).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866775" y="5143500"/>
            <a:ext cx="50387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Functional Correctness: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 72.06% of translated code ran successfully.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581025" y="394335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581025" y="439102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581025" y="514350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pic>
        <p:nvPicPr>
          <p:cNvPr id="175" name="Google Shape;175;p17" title="ChatGPT Image 2026年1月29日 22_03_24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20275" y="2025950"/>
            <a:ext cx="5590698" cy="37271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0" name="Google Shape;18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830264"/>
            <a:ext cx="5324475" cy="205993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2" name="Google Shape;182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4985444"/>
            <a:ext cx="5324475" cy="1347341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8"/>
          <p:cNvSpPr txBox="1"/>
          <p:nvPr/>
        </p:nvSpPr>
        <p:spPr>
          <a:xfrm>
            <a:off x="581025" y="525214"/>
            <a:ext cx="115814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6B6D4"/>
                </a:solidFill>
                <a:latin typeface="Orbitron"/>
                <a:ea typeface="Orbitron"/>
                <a:cs typeface="Orbitron"/>
                <a:sym typeface="Orbitron"/>
              </a:rPr>
              <a:t>TASK 2: CODE GENERATION WITH LORA</a:t>
            </a:r>
            <a:endParaRPr/>
          </a:p>
        </p:txBody>
      </p:sp>
      <p:sp>
        <p:nvSpPr>
          <p:cNvPr id="184" name="Google Shape;184;p18"/>
          <p:cNvSpPr/>
          <p:nvPr/>
        </p:nvSpPr>
        <p:spPr>
          <a:xfrm>
            <a:off x="581025" y="1163389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581025" y="6505575"/>
            <a:ext cx="16002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 2: Generation Setup</a:t>
            </a:r>
            <a:endParaRPr/>
          </a:p>
        </p:txBody>
      </p:sp>
      <p:sp>
        <p:nvSpPr>
          <p:cNvPr id="186" name="Google Shape;186;p18"/>
          <p:cNvSpPr/>
          <p:nvPr/>
        </p:nvSpPr>
        <p:spPr>
          <a:xfrm>
            <a:off x="6064950" y="1082464"/>
            <a:ext cx="952500" cy="28500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 txBox="1"/>
          <p:nvPr/>
        </p:nvSpPr>
        <p:spPr>
          <a:xfrm>
            <a:off x="581025" y="1553914"/>
            <a:ext cx="559069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2E8F0"/>
                </a:solidFill>
                <a:latin typeface="Orbitron"/>
                <a:ea typeface="Orbitron"/>
                <a:cs typeface="Orbitron"/>
                <a:sym typeface="Orbitron"/>
              </a:rPr>
              <a:t>OBJECTIVE: TEXT TO PYTHON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581025" y="2030164"/>
            <a:ext cx="5324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Synthesizing Python solutions from algorithmic problem descriptions using parameter-efficient fine-tuning.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771525" y="3223319"/>
            <a:ext cx="5190648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A3E635"/>
                </a:solidFill>
                <a:latin typeface="Exo 2"/>
                <a:ea typeface="Exo 2"/>
                <a:cs typeface="Exo 2"/>
                <a:sym typeface="Exo 2"/>
              </a:rPr>
              <a:t>The Models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771525" y="5378499"/>
            <a:ext cx="5190648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946EF"/>
                </a:solidFill>
                <a:latin typeface="Exo 2"/>
                <a:ea typeface="Exo 2"/>
                <a:cs typeface="Exo 2"/>
                <a:sym typeface="Exo 2"/>
              </a:rPr>
              <a:t>LoRA Config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771525" y="5654724"/>
            <a:ext cx="4943475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Rank (r) = 16, Alpha = 32. Targeting all Linear layers. 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Only ~1.5% trainable parameters.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1057275" y="3499544"/>
            <a:ext cx="46577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DeepSeek-Coder-6.7B-Instruct: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 6.7B Params (Quantized to 4-bit).</a:t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1057275" y="4252019"/>
            <a:ext cx="46577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Qwen2.5-Coder-3B-Instruct: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 3B Params.</a:t>
            </a:r>
            <a:endParaRPr/>
          </a:p>
        </p:txBody>
      </p:sp>
      <p:sp>
        <p:nvSpPr>
          <p:cNvPr id="194" name="Google Shape;194;p18"/>
          <p:cNvSpPr txBox="1"/>
          <p:nvPr/>
        </p:nvSpPr>
        <p:spPr>
          <a:xfrm>
            <a:off x="771525" y="3499544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771525" y="4252019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pic>
        <p:nvPicPr>
          <p:cNvPr id="196" name="Google Shape;196;p18" title="ChatGPT Image 2026年1月29日 22_11_56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19750" y="1582887"/>
            <a:ext cx="6047224" cy="4442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1" name="Google Shape;20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19"/>
          <p:cNvSpPr txBox="1"/>
          <p:nvPr/>
        </p:nvSpPr>
        <p:spPr>
          <a:xfrm>
            <a:off x="571500" y="6515100"/>
            <a:ext cx="1600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9"/>
          <p:cNvSpPr txBox="1"/>
          <p:nvPr/>
        </p:nvSpPr>
        <p:spPr>
          <a:xfrm>
            <a:off x="571500" y="571500"/>
            <a:ext cx="520065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6B6D4"/>
                </a:solidFill>
                <a:latin typeface="Orbitron"/>
                <a:ea typeface="Orbitron"/>
                <a:cs typeface="Orbitron"/>
                <a:sym typeface="Orbitron"/>
              </a:rPr>
              <a:t>THE DATA CHALLENGE</a:t>
            </a:r>
            <a:endParaRPr/>
          </a:p>
        </p:txBody>
      </p:sp>
      <p:sp>
        <p:nvSpPr>
          <p:cNvPr id="204" name="Google Shape;204;p19"/>
          <p:cNvSpPr/>
          <p:nvPr/>
        </p:nvSpPr>
        <p:spPr>
          <a:xfrm>
            <a:off x="571500" y="1704975"/>
            <a:ext cx="49530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05" name="Google Shape;20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9"/>
          <p:cNvSpPr txBox="1"/>
          <p:nvPr/>
        </p:nvSpPr>
        <p:spPr>
          <a:xfrm>
            <a:off x="571500" y="2095500"/>
            <a:ext cx="52006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2E8F0"/>
                </a:solidFill>
                <a:latin typeface="Orbitron"/>
                <a:ea typeface="Orbitron"/>
                <a:cs typeface="Orbitron"/>
                <a:sym typeface="Orbitron"/>
              </a:rPr>
              <a:t>INITIAL FAILURE: MBPP + TACO</a:t>
            </a:r>
            <a:endParaRPr/>
          </a:p>
        </p:txBody>
      </p:sp>
      <p:sp>
        <p:nvSpPr>
          <p:cNvPr id="207" name="Google Shape;207;p19"/>
          <p:cNvSpPr txBox="1"/>
          <p:nvPr/>
        </p:nvSpPr>
        <p:spPr>
          <a:xfrm>
            <a:off x="571500" y="2714625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Using standard competitive programming datasets led to a "Loss Explosion." The models failed to converge due to excessive I/O boilerplate and messy formats.</a:t>
            </a:r>
            <a:endParaRPr/>
          </a:p>
        </p:txBody>
      </p:sp>
      <p:sp>
        <p:nvSpPr>
          <p:cNvPr id="208" name="Google Shape;208;p19"/>
          <p:cNvSpPr/>
          <p:nvPr/>
        </p:nvSpPr>
        <p:spPr>
          <a:xfrm>
            <a:off x="571500" y="4010025"/>
            <a:ext cx="4953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9"/>
          <p:cNvSpPr txBox="1"/>
          <p:nvPr/>
        </p:nvSpPr>
        <p:spPr>
          <a:xfrm>
            <a:off x="571500" y="4219575"/>
            <a:ext cx="52006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2D3EE"/>
                </a:solidFill>
                <a:latin typeface="Orbitron"/>
                <a:ea typeface="Orbitron"/>
                <a:cs typeface="Orbitron"/>
                <a:sym typeface="Orbitron"/>
              </a:rPr>
              <a:t>THE SOLUTION: SYNTHETIC DATA</a:t>
            </a:r>
            <a:endParaRPr/>
          </a:p>
        </p:txBody>
      </p:sp>
      <p:sp>
        <p:nvSpPr>
          <p:cNvPr id="210" name="Google Shape;210;p19"/>
          <p:cNvSpPr txBox="1"/>
          <p:nvPr/>
        </p:nvSpPr>
        <p:spPr>
          <a:xfrm>
            <a:off x="571500" y="4838700"/>
            <a:ext cx="49530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We generated a pristine dataset using </a:t>
            </a: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Gemini </a:t>
            </a:r>
            <a:r>
              <a:rPr lang="en-US" sz="1500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3</a:t>
            </a: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 Pro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 and </a:t>
            </a:r>
            <a:r>
              <a:rPr b="0" i="0" lang="en-US" sz="150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Claude Opus 4.5 </a:t>
            </a:r>
            <a:r>
              <a:rPr lang="en-US" sz="1500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thinking</a:t>
            </a: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.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57250" y="5638800"/>
            <a:ext cx="4667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1,600 High-quality Training Samples.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57250" y="6086475"/>
            <a:ext cx="4667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Clean function signatures (No I/O noise).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57250" y="6534150"/>
            <a:ext cx="46672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Stable convergence achieved.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571500" y="563880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215" name="Google Shape;215;p19"/>
          <p:cNvSpPr txBox="1"/>
          <p:nvPr/>
        </p:nvSpPr>
        <p:spPr>
          <a:xfrm>
            <a:off x="571500" y="6086475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  <p:sp>
        <p:nvSpPr>
          <p:cNvPr id="216" name="Google Shape;216;p19"/>
          <p:cNvSpPr txBox="1"/>
          <p:nvPr/>
        </p:nvSpPr>
        <p:spPr>
          <a:xfrm>
            <a:off x="571500" y="6534150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946E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1" name="Google Shape;22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27609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2" name="Google Shape;22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572666"/>
            <a:ext cx="11029950" cy="4741515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0"/>
          <p:cNvSpPr txBox="1"/>
          <p:nvPr/>
        </p:nvSpPr>
        <p:spPr>
          <a:xfrm>
            <a:off x="581025" y="543966"/>
            <a:ext cx="115814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6B6D4"/>
                </a:solidFill>
                <a:latin typeface="Orbitron"/>
                <a:ea typeface="Orbitron"/>
                <a:cs typeface="Orbitron"/>
                <a:sym typeface="Orbitron"/>
              </a:rPr>
              <a:t>TASK 2 RESULTS: PASS@1 IMPROVEMENTS</a:t>
            </a:r>
            <a:endParaRPr/>
          </a:p>
        </p:txBody>
      </p:sp>
      <p:sp>
        <p:nvSpPr>
          <p:cNvPr id="224" name="Google Shape;224;p20"/>
          <p:cNvSpPr/>
          <p:nvPr/>
        </p:nvSpPr>
        <p:spPr>
          <a:xfrm>
            <a:off x="581025" y="1182141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0"/>
          <p:cNvSpPr txBox="1"/>
          <p:nvPr/>
        </p:nvSpPr>
        <p:spPr>
          <a:xfrm>
            <a:off x="581025" y="6505575"/>
            <a:ext cx="1866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 2: Quantitative Results</a:t>
            </a:r>
            <a:endParaRPr/>
          </a:p>
        </p:txBody>
      </p:sp>
      <p:sp>
        <p:nvSpPr>
          <p:cNvPr id="226" name="Google Shape;226;p20"/>
          <p:cNvSpPr/>
          <p:nvPr/>
        </p:nvSpPr>
        <p:spPr>
          <a:xfrm>
            <a:off x="5643000" y="1048804"/>
            <a:ext cx="952500" cy="28500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0"/>
          <p:cNvSpPr txBox="1"/>
          <p:nvPr/>
        </p:nvSpPr>
        <p:spPr>
          <a:xfrm>
            <a:off x="581025" y="1763166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LoRA fine-tuning yielded significant gains in the "Pass@1" metric (probability of the first generated code executing correctly).</a:t>
            </a:r>
            <a:endParaRPr/>
          </a:p>
        </p:txBody>
      </p:sp>
      <p:sp>
        <p:nvSpPr>
          <p:cNvPr id="228" name="Google Shape;228;p20"/>
          <p:cNvSpPr txBox="1"/>
          <p:nvPr/>
        </p:nvSpPr>
        <p:spPr>
          <a:xfrm>
            <a:off x="581025" y="5868441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22D3EE"/>
                </a:solidFill>
                <a:latin typeface="Exo 2 SemiBold"/>
                <a:ea typeface="Exo 2 SemiBold"/>
                <a:cs typeface="Exo 2 SemiBold"/>
                <a:sym typeface="Exo 2 SemiBold"/>
              </a:rPr>
              <a:t>Insight:</a:t>
            </a:r>
            <a:r>
              <a:rPr b="0" i="0" lang="en-US" sz="1350" u="none" cap="none" strike="noStrike">
                <a:solidFill>
                  <a:srgbClr val="A3E635"/>
                </a:solidFill>
                <a:latin typeface="Exo 2"/>
                <a:ea typeface="Exo 2"/>
                <a:cs typeface="Exo 2"/>
                <a:sym typeface="Exo 2"/>
              </a:rPr>
              <a:t> The smaller Qwen model benefited MORE from fine-tuning than the larger model.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3" name="Google Shape;23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/>
          <p:cNvSpPr txBox="1"/>
          <p:nvPr/>
        </p:nvSpPr>
        <p:spPr>
          <a:xfrm>
            <a:off x="581025" y="581025"/>
            <a:ext cx="115814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6B6D4"/>
                </a:solidFill>
                <a:latin typeface="Orbitron"/>
                <a:ea typeface="Orbitron"/>
                <a:cs typeface="Orbitron"/>
                <a:sym typeface="Orbitron"/>
              </a:rPr>
              <a:t>ERROR ANALYSIS: QWEN MODEL</a:t>
            </a:r>
            <a:endParaRPr/>
          </a:p>
        </p:txBody>
      </p:sp>
      <p:sp>
        <p:nvSpPr>
          <p:cNvPr id="235" name="Google Shape;235;p21"/>
          <p:cNvSpPr/>
          <p:nvPr/>
        </p:nvSpPr>
        <p:spPr>
          <a:xfrm>
            <a:off x="581025" y="12192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1"/>
          <p:cNvSpPr txBox="1"/>
          <p:nvPr/>
        </p:nvSpPr>
        <p:spPr>
          <a:xfrm>
            <a:off x="581025" y="6505575"/>
            <a:ext cx="146685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Task 2: Error Analysis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619750" y="1085862"/>
            <a:ext cx="952500" cy="28500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1"/>
          <p:cNvSpPr txBox="1"/>
          <p:nvPr/>
        </p:nvSpPr>
        <p:spPr>
          <a:xfrm>
            <a:off x="581025" y="184502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LoRA fine-tuning drastically changed the failure patterns, nearly eliminating compilation and runtime errors.</a:t>
            </a:r>
            <a:endParaRPr/>
          </a:p>
        </p:txBody>
      </p:sp>
      <p:sp>
        <p:nvSpPr>
          <p:cNvPr id="239" name="Google Shape;239;p21"/>
          <p:cNvSpPr txBox="1"/>
          <p:nvPr/>
        </p:nvSpPr>
        <p:spPr>
          <a:xfrm>
            <a:off x="581025" y="5835997"/>
            <a:ext cx="1102995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Note: The increase in AssertionErrors suggests the model learned to write valid code (runs without crashing) but sometimes produces incorrect logic.</a:t>
            </a:r>
            <a:endParaRPr/>
          </a:p>
        </p:txBody>
      </p:sp>
      <p:sp>
        <p:nvSpPr>
          <p:cNvPr id="240" name="Google Shape;240;p21"/>
          <p:cNvSpPr/>
          <p:nvPr/>
        </p:nvSpPr>
        <p:spPr>
          <a:xfrm>
            <a:off x="581025" y="2626072"/>
            <a:ext cx="11029950" cy="3019425"/>
          </a:xfrm>
          <a:prstGeom prst="roundRect">
            <a:avLst>
              <a:gd fmla="val 0" name="adj"/>
            </a:avLst>
          </a:prstGeom>
          <a:solidFill>
            <a:srgbClr val="0F172A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1" name="Google Shape;241;p21"/>
          <p:cNvGraphicFramePr/>
          <p:nvPr/>
        </p:nvGraphicFramePr>
        <p:xfrm>
          <a:off x="581025" y="262607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{642A529D-24A7-493E-878A-65EC14C36B96}</a:tableStyleId>
              </a:tblPr>
              <a:tblGrid>
                <a:gridCol w="4157800"/>
                <a:gridCol w="1921675"/>
                <a:gridCol w="2609700"/>
                <a:gridCol w="2331250"/>
              </a:tblGrid>
              <a:tr h="603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2D3EE"/>
                          </a:solidFill>
                          <a:latin typeface="Orbitron"/>
                          <a:ea typeface="Orbitron"/>
                          <a:cs typeface="Orbitron"/>
                          <a:sym typeface="Orbitron"/>
                        </a:rPr>
                        <a:t>Error Type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2D3EE"/>
                          </a:solidFill>
                          <a:latin typeface="Orbitron"/>
                          <a:ea typeface="Orbitron"/>
                          <a:cs typeface="Orbitron"/>
                          <a:sym typeface="Orbitron"/>
                        </a:rPr>
                        <a:t>Base Model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2D3EE"/>
                          </a:solidFill>
                          <a:latin typeface="Orbitron"/>
                          <a:ea typeface="Orbitron"/>
                          <a:cs typeface="Orbitron"/>
                          <a:sym typeface="Orbitron"/>
                        </a:rPr>
                        <a:t>LoRA Fine-tuned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22D3EE"/>
                          </a:solidFill>
                          <a:latin typeface="Orbitron"/>
                          <a:ea typeface="Orbitron"/>
                          <a:cs typeface="Orbitron"/>
                          <a:sym typeface="Orbitron"/>
                        </a:rPr>
                        <a:t>Change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6B6D4"/>
                    </a:solidFill>
                  </a:tcPr>
                </a:tc>
              </a:tr>
              <a:tr h="603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CBD5E1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SyntaxError</a:t>
                      </a:r>
                      <a:r>
                        <a:rPr b="0" i="0" lang="en-US" sz="1500" u="none" cap="none" strike="noStrike">
                          <a:solidFill>
                            <a:srgbClr val="CBD5E1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 (Code doesn't compile)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EF4444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2.10%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2C55E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1.15%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CBD5E1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Improved</a:t>
                      </a:r>
                      <a:endParaRPr/>
                    </a:p>
                  </a:txBody>
                  <a:tcPr marT="25400" marB="25400" marR="63500" marL="2571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3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CBD5E1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RuntimeError</a:t>
                      </a:r>
                      <a:r>
                        <a:rPr b="0" i="0" lang="en-US" sz="1500" u="none" cap="none" strike="noStrike">
                          <a:solidFill>
                            <a:srgbClr val="CBD5E1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 (Crashes during run)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EF4444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44.90%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2C55E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10.75%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CBD5E1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-76% Reduction</a:t>
                      </a:r>
                      <a:endParaRPr/>
                    </a:p>
                  </a:txBody>
                  <a:tcPr marT="25400" marB="25400" marR="63500" marL="2571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3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CBD5E1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AssertionError</a:t>
                      </a:r>
                      <a:r>
                        <a:rPr b="0" i="0" lang="en-US" sz="1500" u="none" cap="none" strike="noStrike">
                          <a:solidFill>
                            <a:srgbClr val="CBD5E1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 (Wrong Answer)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CBD5E1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19.40%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F59E0B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26.85%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CBD5E1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Increased</a:t>
                      </a:r>
                      <a:endParaRPr/>
                    </a:p>
                  </a:txBody>
                  <a:tcPr marT="25400" marB="25400" marR="63500" marL="2571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3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CBD5E1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Extra I/O Rate</a:t>
                      </a:r>
                      <a:r>
                        <a:rPr b="0" i="0" lang="en-US" sz="1500" u="none" cap="none" strike="noStrike">
                          <a:solidFill>
                            <a:srgbClr val="CBD5E1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 (Bad Formatting)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EF4444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96.1%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2C55E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0.1%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CBD5E1"/>
                          </a:solidFill>
                          <a:latin typeface="Exo 2"/>
                          <a:ea typeface="Exo 2"/>
                          <a:cs typeface="Exo 2"/>
                          <a:sym typeface="Exo 2"/>
                        </a:rPr>
                        <a:t>Eliminated</a:t>
                      </a:r>
                      <a:endParaRPr/>
                    </a:p>
                  </a:txBody>
                  <a:tcPr marT="25400" marB="25400" marR="63500" marL="2857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42" name="Google Shape;242;p21"/>
          <p:cNvSpPr/>
          <p:nvPr/>
        </p:nvSpPr>
        <p:spPr>
          <a:xfrm>
            <a:off x="585787" y="3216622"/>
            <a:ext cx="4157811" cy="1905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/>
          <p:nvPr/>
        </p:nvSpPr>
        <p:spPr>
          <a:xfrm>
            <a:off x="4743598" y="3216622"/>
            <a:ext cx="1921668" cy="1905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6665267" y="3216622"/>
            <a:ext cx="2609701" cy="1905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9274968" y="3216622"/>
            <a:ext cx="2331243" cy="1905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/>
          <p:nvPr/>
        </p:nvSpPr>
        <p:spPr>
          <a:xfrm>
            <a:off x="585787" y="3830984"/>
            <a:ext cx="415781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1"/>
          <p:cNvSpPr/>
          <p:nvPr/>
        </p:nvSpPr>
        <p:spPr>
          <a:xfrm>
            <a:off x="4743598" y="3830984"/>
            <a:ext cx="192166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6665267" y="3830984"/>
            <a:ext cx="260970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9274968" y="3830984"/>
            <a:ext cx="233124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585787" y="4431059"/>
            <a:ext cx="415781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4743598" y="4431059"/>
            <a:ext cx="192166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6665267" y="4431059"/>
            <a:ext cx="260970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9274968" y="4431059"/>
            <a:ext cx="233124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/>
          <p:nvPr/>
        </p:nvSpPr>
        <p:spPr>
          <a:xfrm>
            <a:off x="585787" y="5031134"/>
            <a:ext cx="415781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1"/>
          <p:cNvSpPr/>
          <p:nvPr/>
        </p:nvSpPr>
        <p:spPr>
          <a:xfrm>
            <a:off x="4743598" y="5031134"/>
            <a:ext cx="1921668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1"/>
          <p:cNvSpPr/>
          <p:nvPr/>
        </p:nvSpPr>
        <p:spPr>
          <a:xfrm>
            <a:off x="6665267" y="5031134"/>
            <a:ext cx="260970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1"/>
          <p:cNvSpPr/>
          <p:nvPr/>
        </p:nvSpPr>
        <p:spPr>
          <a:xfrm>
            <a:off x="9274968" y="5031134"/>
            <a:ext cx="233124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58" name="Google Shape;258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17843" y="5254972"/>
            <a:ext cx="17145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417843" y="4654897"/>
            <a:ext cx="1428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0" name="Google Shape;260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417843" y="3454747"/>
            <a:ext cx="1428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1" name="Google Shape;261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417843" y="4054822"/>
            <a:ext cx="1428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2" name="Google Shape;262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417843" y="3454747"/>
            <a:ext cx="1428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3" name="Google Shape;263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417843" y="4054822"/>
            <a:ext cx="1428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4" name="Google Shape;264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417843" y="4654897"/>
            <a:ext cx="1428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5" name="Google Shape;26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17843" y="5254972"/>
            <a:ext cx="17145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1" title="屏幕截图 2026-01-29 21532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38075" y="2463625"/>
            <a:ext cx="11258802" cy="334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1" name="Google Shape;271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1905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22"/>
          <p:cNvSpPr txBox="1"/>
          <p:nvPr/>
        </p:nvSpPr>
        <p:spPr>
          <a:xfrm>
            <a:off x="581025" y="490537"/>
            <a:ext cx="115814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6B6D4"/>
                </a:solidFill>
                <a:latin typeface="Orbitron"/>
                <a:ea typeface="Orbitron"/>
                <a:cs typeface="Orbitron"/>
                <a:sym typeface="Orbitron"/>
              </a:rPr>
              <a:t>EFFICIENCY: FULL FT VS. LORA</a:t>
            </a:r>
            <a:endParaRPr/>
          </a:p>
        </p:txBody>
      </p:sp>
      <p:sp>
        <p:nvSpPr>
          <p:cNvPr id="273" name="Google Shape;273;p22"/>
          <p:cNvSpPr/>
          <p:nvPr/>
        </p:nvSpPr>
        <p:spPr>
          <a:xfrm>
            <a:off x="581025" y="1128712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2"/>
          <p:cNvSpPr txBox="1"/>
          <p:nvPr/>
        </p:nvSpPr>
        <p:spPr>
          <a:xfrm>
            <a:off x="581025" y="6505575"/>
            <a:ext cx="12668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Efficiency Analysis</a:t>
            </a:r>
            <a:endParaRPr/>
          </a:p>
        </p:txBody>
      </p:sp>
      <p:sp>
        <p:nvSpPr>
          <p:cNvPr id="275" name="Google Shape;275;p22"/>
          <p:cNvSpPr/>
          <p:nvPr/>
        </p:nvSpPr>
        <p:spPr>
          <a:xfrm>
            <a:off x="5619750" y="1047738"/>
            <a:ext cx="952500" cy="28500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2"/>
          <p:cNvSpPr txBox="1"/>
          <p:nvPr/>
        </p:nvSpPr>
        <p:spPr>
          <a:xfrm>
            <a:off x="581025" y="3305175"/>
            <a:ext cx="559069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2E8F0"/>
                </a:solidFill>
                <a:latin typeface="Orbitron"/>
                <a:ea typeface="Orbitron"/>
                <a:cs typeface="Orbitron"/>
                <a:sym typeface="Orbitron"/>
              </a:rPr>
              <a:t>RESOURCE CONSUMPTION</a:t>
            </a:r>
            <a:endParaRPr/>
          </a:p>
        </p:txBody>
      </p:sp>
      <p:sp>
        <p:nvSpPr>
          <p:cNvPr id="277" name="Google Shape;277;p22"/>
          <p:cNvSpPr txBox="1"/>
          <p:nvPr/>
        </p:nvSpPr>
        <p:spPr>
          <a:xfrm>
            <a:off x="581025" y="3781425"/>
            <a:ext cx="5324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LoRA enables training massive models on standard laptop hardware (RTX 4070, 8GB VRAM) via 4-bit quantization.</a:t>
            </a:r>
            <a:endParaRPr/>
          </a:p>
        </p:txBody>
      </p:sp>
      <p:sp>
        <p:nvSpPr>
          <p:cNvPr id="278" name="Google Shape;278;p22"/>
          <p:cNvSpPr/>
          <p:nvPr/>
        </p:nvSpPr>
        <p:spPr>
          <a:xfrm>
            <a:off x="6291262" y="2719387"/>
            <a:ext cx="1390352" cy="1905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2"/>
          <p:cNvSpPr/>
          <p:nvPr/>
        </p:nvSpPr>
        <p:spPr>
          <a:xfrm>
            <a:off x="7681614" y="2719387"/>
            <a:ext cx="1949946" cy="1905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2"/>
          <p:cNvSpPr/>
          <p:nvPr/>
        </p:nvSpPr>
        <p:spPr>
          <a:xfrm>
            <a:off x="9631560" y="2719387"/>
            <a:ext cx="1974651" cy="1905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6291262" y="3638550"/>
            <a:ext cx="139035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2"/>
          <p:cNvSpPr/>
          <p:nvPr/>
        </p:nvSpPr>
        <p:spPr>
          <a:xfrm>
            <a:off x="7681614" y="3638550"/>
            <a:ext cx="194994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9631560" y="3638550"/>
            <a:ext cx="197465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6291262" y="4543425"/>
            <a:ext cx="139035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2"/>
          <p:cNvSpPr/>
          <p:nvPr/>
        </p:nvSpPr>
        <p:spPr>
          <a:xfrm>
            <a:off x="7681614" y="4543425"/>
            <a:ext cx="194994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2"/>
          <p:cNvSpPr/>
          <p:nvPr/>
        </p:nvSpPr>
        <p:spPr>
          <a:xfrm>
            <a:off x="9631560" y="4543425"/>
            <a:ext cx="197465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2"/>
          <p:cNvSpPr/>
          <p:nvPr/>
        </p:nvSpPr>
        <p:spPr>
          <a:xfrm>
            <a:off x="6291262" y="5448300"/>
            <a:ext cx="139035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2"/>
          <p:cNvSpPr/>
          <p:nvPr/>
        </p:nvSpPr>
        <p:spPr>
          <a:xfrm>
            <a:off x="7681614" y="5448300"/>
            <a:ext cx="194994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2"/>
          <p:cNvSpPr/>
          <p:nvPr/>
        </p:nvSpPr>
        <p:spPr>
          <a:xfrm>
            <a:off x="9631560" y="5448300"/>
            <a:ext cx="197465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0" name="Google Shape;290;p22" title="屏幕截图 2026-01-29 21510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78200" y="2648500"/>
            <a:ext cx="6382800" cy="3362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5" name="Google Shape;29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6" name="Google Shape;296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33625"/>
            <a:ext cx="3486150" cy="3219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7" name="Google Shape;297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2333625"/>
            <a:ext cx="3486150" cy="3219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8" name="Google Shape;298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2333625"/>
            <a:ext cx="3486150" cy="321945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23"/>
          <p:cNvSpPr txBox="1"/>
          <p:nvPr/>
        </p:nvSpPr>
        <p:spPr>
          <a:xfrm>
            <a:off x="581025" y="581025"/>
            <a:ext cx="115814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6B6D4"/>
                </a:solidFill>
                <a:latin typeface="Orbitron"/>
                <a:ea typeface="Orbitron"/>
                <a:cs typeface="Orbitron"/>
                <a:sym typeface="Orbitron"/>
              </a:rPr>
              <a:t>KEY TAKEAWAYS</a:t>
            </a:r>
            <a:endParaRPr/>
          </a:p>
        </p:txBody>
      </p:sp>
      <p:sp>
        <p:nvSpPr>
          <p:cNvPr id="300" name="Google Shape;300;p23"/>
          <p:cNvSpPr/>
          <p:nvPr/>
        </p:nvSpPr>
        <p:spPr>
          <a:xfrm>
            <a:off x="581025" y="1219200"/>
            <a:ext cx="110299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3"/>
          <p:cNvSpPr txBox="1"/>
          <p:nvPr/>
        </p:nvSpPr>
        <p:spPr>
          <a:xfrm>
            <a:off x="581025" y="6505575"/>
            <a:ext cx="666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3"/>
          <p:cNvSpPr/>
          <p:nvPr/>
        </p:nvSpPr>
        <p:spPr>
          <a:xfrm>
            <a:off x="5579100" y="1085862"/>
            <a:ext cx="952500" cy="28500"/>
          </a:xfrm>
          <a:prstGeom prst="rect">
            <a:avLst/>
          </a:prstGeom>
          <a:solidFill>
            <a:srgbClr val="D946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3"/>
          <p:cNvSpPr txBox="1"/>
          <p:nvPr/>
        </p:nvSpPr>
        <p:spPr>
          <a:xfrm>
            <a:off x="803910" y="3371850"/>
            <a:ext cx="30403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2E8F0"/>
                </a:solidFill>
                <a:latin typeface="Orbitron"/>
                <a:ea typeface="Orbitron"/>
                <a:cs typeface="Orbitron"/>
                <a:sym typeface="Orbitron"/>
              </a:rPr>
              <a:t>FULL FINE-TUNING</a:t>
            </a:r>
            <a:endParaRPr/>
          </a:p>
        </p:txBody>
      </p:sp>
      <p:sp>
        <p:nvSpPr>
          <p:cNvPr id="304" name="Google Shape;304;p23"/>
          <p:cNvSpPr txBox="1"/>
          <p:nvPr/>
        </p:nvSpPr>
        <p:spPr>
          <a:xfrm>
            <a:off x="876300" y="3848100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Remains the gold standard for specialized translation tasks on smaller models (CodeT5).</a:t>
            </a:r>
            <a:endParaRPr/>
          </a:p>
        </p:txBody>
      </p:sp>
      <p:sp>
        <p:nvSpPr>
          <p:cNvPr id="305" name="Google Shape;305;p23"/>
          <p:cNvSpPr txBox="1"/>
          <p:nvPr/>
        </p:nvSpPr>
        <p:spPr>
          <a:xfrm>
            <a:off x="4575810" y="3371850"/>
            <a:ext cx="30403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2E8F0"/>
                </a:solidFill>
                <a:latin typeface="Orbitron"/>
                <a:ea typeface="Orbitron"/>
                <a:cs typeface="Orbitron"/>
                <a:sym typeface="Orbitron"/>
              </a:rPr>
              <a:t>LORA EFFICIENCY</a:t>
            </a:r>
            <a:endParaRPr/>
          </a:p>
        </p:txBody>
      </p:sp>
      <p:sp>
        <p:nvSpPr>
          <p:cNvPr id="306" name="Google Shape;306;p23"/>
          <p:cNvSpPr txBox="1"/>
          <p:nvPr/>
        </p:nvSpPr>
        <p:spPr>
          <a:xfrm>
            <a:off x="4648200" y="3848100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Democratizes access. Enables 7B+ parameter model training on consumer laptops with excellent results.</a:t>
            </a:r>
            <a:endParaRPr/>
          </a:p>
        </p:txBody>
      </p:sp>
      <p:sp>
        <p:nvSpPr>
          <p:cNvPr id="307" name="Google Shape;307;p23"/>
          <p:cNvSpPr txBox="1"/>
          <p:nvPr/>
        </p:nvSpPr>
        <p:spPr>
          <a:xfrm>
            <a:off x="8347710" y="3371850"/>
            <a:ext cx="30403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2E8F0"/>
                </a:solidFill>
                <a:latin typeface="Orbitron"/>
                <a:ea typeface="Orbitron"/>
                <a:cs typeface="Orbitron"/>
                <a:sym typeface="Orbitron"/>
              </a:rPr>
              <a:t>SMALL VS LARGE</a:t>
            </a:r>
            <a:endParaRPr/>
          </a:p>
        </p:txBody>
      </p:sp>
      <p:sp>
        <p:nvSpPr>
          <p:cNvPr id="308" name="Google Shape;308;p23"/>
          <p:cNvSpPr txBox="1"/>
          <p:nvPr/>
        </p:nvSpPr>
        <p:spPr>
          <a:xfrm>
            <a:off x="8420100" y="3848100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Smaller models (Qwen 3B) show greater relative elasticity and improvement from LoRA than larger counterparts.</a:t>
            </a:r>
            <a:endParaRPr/>
          </a:p>
        </p:txBody>
      </p:sp>
      <p:pic>
        <p:nvPicPr>
          <p:cNvPr descr="image.png" id="309" name="Google Shape;309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095500" y="26860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2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95975" y="2686050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2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639300" y="26860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6" name="Google Shape;31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24"/>
          <p:cNvSpPr txBox="1"/>
          <p:nvPr/>
        </p:nvSpPr>
        <p:spPr>
          <a:xfrm>
            <a:off x="1895475" y="1775519"/>
            <a:ext cx="840105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Orbitron"/>
                <a:ea typeface="Orbitron"/>
                <a:cs typeface="Orbitron"/>
                <a:sym typeface="Orbitron"/>
              </a:rPr>
              <a:t>Q &amp; A</a:t>
            </a:r>
            <a:endParaRPr/>
          </a:p>
        </p:txBody>
      </p:sp>
      <p:sp>
        <p:nvSpPr>
          <p:cNvPr id="318" name="Google Shape;318;p24"/>
          <p:cNvSpPr txBox="1"/>
          <p:nvPr/>
        </p:nvSpPr>
        <p:spPr>
          <a:xfrm>
            <a:off x="2095500" y="3032819"/>
            <a:ext cx="800100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94A3B8"/>
                </a:solidFill>
                <a:latin typeface="Exo 2"/>
                <a:ea typeface="Exo 2"/>
                <a:cs typeface="Exo 2"/>
                <a:sym typeface="Exo 2"/>
              </a:rPr>
              <a:t>Thank you for your attention.</a:t>
            </a:r>
            <a:endParaRPr/>
          </a:p>
        </p:txBody>
      </p:sp>
      <p:sp>
        <p:nvSpPr>
          <p:cNvPr id="319" name="Google Shape;319;p24"/>
          <p:cNvSpPr txBox="1"/>
          <p:nvPr/>
        </p:nvSpPr>
        <p:spPr>
          <a:xfrm>
            <a:off x="2095500" y="4587180"/>
            <a:ext cx="8001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Shujun Liao &amp; Vipin Chaudhry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